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16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786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canada_vapes_ful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594360"/>
            <a:ext cx="329184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58368"/>
            <a:ext cx="7132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Growth, AOV and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Targeting Strategy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11643" y="2172531"/>
            <a:ext cx="6720840" cy="2749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2200" b="0" i="0" u="none" strike="noStrike" dirty="0">
                <a:effectLst/>
              </a:rPr>
              <a:t>Canada Vapes operates in a highly regulated and regionally diverse market.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2200" dirty="0"/>
              <a:t>C</a:t>
            </a:r>
            <a:r>
              <a:rPr lang="en-CA" sz="2200" b="0" i="0" u="none" strike="noStrike" dirty="0">
                <a:effectLst/>
              </a:rPr>
              <a:t>ustomer purchasing behaviour can vary across provinces.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2200" b="0" i="0" u="none" strike="noStrike" dirty="0">
                <a:effectLst/>
              </a:rPr>
              <a:t>This project analyzes sales and customer behaviour to identify growth opportunities, improve AOV, strengthen customer retention, and support regional marketing decisions.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85216" y="5430428"/>
            <a:ext cx="6812280" cy="1207008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2000" y="5659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6076051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Absasiaka Anwanakak  •  Gift Oyugi  •  Damian Okelue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Sahil Kamane  •  Busayo Adebayo</a:t>
            </a:r>
            <a:endParaRPr lang="en-US" sz="1350" dirty="0"/>
          </a:p>
        </p:txBody>
      </p:sp>
      <p:pic>
        <p:nvPicPr>
          <p:cNvPr id="25" name="Image 1" descr="/mnt/data/canada_vapes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4251960"/>
            <a:ext cx="19202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canada_vape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46304"/>
            <a:ext cx="77724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72600" y="358193"/>
            <a:ext cx="1234440" cy="310896"/>
          </a:xfrm>
          <a:prstGeom prst="roundRect">
            <a:avLst>
              <a:gd name="adj" fmla="val 41176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450324" y="394769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</a:t>
            </a:r>
            <a:endParaRPr lang="en-US" sz="1000" dirty="0"/>
          </a:p>
        </p:txBody>
      </p:sp>
      <p:pic>
        <p:nvPicPr>
          <p:cNvPr id="6" name="Image 1" descr="/mnt/data/canada_vapes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48" y="5806440"/>
            <a:ext cx="96012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is strong. Value capture is the gap.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21792" y="8046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D6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was designed to move from performance reporting to practical management decisions.</a:t>
            </a:r>
            <a:endParaRPr lang="en-US" sz="1320" dirty="0"/>
          </a:p>
        </p:txBody>
      </p:sp>
      <p:sp>
        <p:nvSpPr>
          <p:cNvPr id="9" name="Shape 5"/>
          <p:cNvSpPr/>
          <p:nvPr/>
        </p:nvSpPr>
        <p:spPr>
          <a:xfrm>
            <a:off x="612648" y="1069848"/>
            <a:ext cx="10954512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58368" y="1389888"/>
            <a:ext cx="3785616" cy="4315968"/>
          </a:xfrm>
          <a:prstGeom prst="roundRect">
            <a:avLst>
              <a:gd name="adj" fmla="val 2174"/>
            </a:avLst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32688" y="17007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central question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76037" y="2103751"/>
            <a:ext cx="3350278" cy="1876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growth coming from, which customers and region should Canada Vapes prioritize, and how can AOV move closer to the $120 target?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803463" y="4233672"/>
            <a:ext cx="3163824" cy="0"/>
          </a:xfrm>
          <a:prstGeom prst="line">
            <a:avLst/>
          </a:prstGeom>
          <a:noFill/>
          <a:ln w="12700">
            <a:solidFill>
              <a:srgbClr val="666A6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76037" y="4412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lens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89169" y="4734699"/>
            <a:ext cx="33502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19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 Growth +  Customer value +  Regional opportunity 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754880" y="1426464"/>
            <a:ext cx="2971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983480" y="1655064"/>
            <a:ext cx="438912" cy="438912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983480" y="167335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541264" y="1655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performance</a:t>
            </a:r>
            <a:endParaRPr lang="en-US" sz="1620" dirty="0"/>
          </a:p>
        </p:txBody>
      </p:sp>
      <p:sp>
        <p:nvSpPr>
          <p:cNvPr id="20" name="Text 16"/>
          <p:cNvSpPr/>
          <p:nvPr/>
        </p:nvSpPr>
        <p:spPr>
          <a:xfrm>
            <a:off x="4983480" y="2267712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completed sales, orders,  AOV, and the three-year forecast.</a:t>
            </a:r>
            <a:endParaRPr lang="en-US" sz="1220" dirty="0"/>
          </a:p>
        </p:txBody>
      </p:sp>
      <p:sp>
        <p:nvSpPr>
          <p:cNvPr id="21" name="Shape 17"/>
          <p:cNvSpPr/>
          <p:nvPr/>
        </p:nvSpPr>
        <p:spPr>
          <a:xfrm>
            <a:off x="8183880" y="1426464"/>
            <a:ext cx="2971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412480" y="1655064"/>
            <a:ext cx="438912" cy="438912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412480" y="167335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970264" y="1655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value drivers</a:t>
            </a:r>
            <a:endParaRPr lang="en-US" sz="1620" dirty="0"/>
          </a:p>
        </p:txBody>
      </p:sp>
      <p:sp>
        <p:nvSpPr>
          <p:cNvPr id="25" name="Text 21"/>
          <p:cNvSpPr/>
          <p:nvPr/>
        </p:nvSpPr>
        <p:spPr>
          <a:xfrm>
            <a:off x="8412480" y="2267712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new and returning customers and identify the strongest customer segment. </a:t>
            </a:r>
            <a:endParaRPr lang="en-US" sz="1220" dirty="0"/>
          </a:p>
        </p:txBody>
      </p:sp>
      <p:sp>
        <p:nvSpPr>
          <p:cNvPr id="26" name="Shape 22"/>
          <p:cNvSpPr/>
          <p:nvPr/>
        </p:nvSpPr>
        <p:spPr>
          <a:xfrm>
            <a:off x="4754880" y="3602736"/>
            <a:ext cx="2971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4983480" y="3831336"/>
            <a:ext cx="438912" cy="438912"/>
          </a:xfrm>
          <a:prstGeom prst="ellipse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983480" y="384962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5541264" y="38313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regions</a:t>
            </a:r>
            <a:endParaRPr lang="en-US" sz="1620" dirty="0"/>
          </a:p>
        </p:txBody>
      </p:sp>
      <p:sp>
        <p:nvSpPr>
          <p:cNvPr id="30" name="Text 26"/>
          <p:cNvSpPr/>
          <p:nvPr/>
        </p:nvSpPr>
        <p:spPr>
          <a:xfrm>
            <a:off x="4983480" y="444398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regional reach, AOV opportunity and priority scores.</a:t>
            </a:r>
            <a:endParaRPr lang="en-US" sz="1220" dirty="0"/>
          </a:p>
        </p:txBody>
      </p:sp>
      <p:sp>
        <p:nvSpPr>
          <p:cNvPr id="31" name="Shape 27"/>
          <p:cNvSpPr/>
          <p:nvPr/>
        </p:nvSpPr>
        <p:spPr>
          <a:xfrm>
            <a:off x="8183880" y="3602736"/>
            <a:ext cx="2971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8412480" y="3831336"/>
            <a:ext cx="438912" cy="438912"/>
          </a:xfrm>
          <a:prstGeom prst="ellipse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8412480" y="384962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8970264" y="38313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 action</a:t>
            </a:r>
            <a:endParaRPr lang="en-US" sz="1620" dirty="0"/>
          </a:p>
        </p:txBody>
      </p:sp>
      <p:sp>
        <p:nvSpPr>
          <p:cNvPr id="35" name="Text 31"/>
          <p:cNvSpPr/>
          <p:nvPr/>
        </p:nvSpPr>
        <p:spPr>
          <a:xfrm>
            <a:off x="8412480" y="444398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measurable next steps, turn findings into measurable customer and regional growth actions.</a:t>
            </a:r>
            <a:endParaRPr lang="en-US" sz="122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74452E06-92A7-05CA-8ACB-DC76B7C8DDC7}"/>
              </a:ext>
            </a:extLst>
          </p:cNvPr>
          <p:cNvSpPr/>
          <p:nvPr/>
        </p:nvSpPr>
        <p:spPr>
          <a:xfrm>
            <a:off x="4430582" y="6108193"/>
            <a:ext cx="7506594" cy="438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Provinces offer the strongest growth opportunities, and what action can Canada Vapes take to increase customer value?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canada_vape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46304"/>
            <a:ext cx="77724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72600" y="210312"/>
            <a:ext cx="1234440" cy="310896"/>
          </a:xfrm>
          <a:prstGeom prst="roundRect">
            <a:avLst>
              <a:gd name="adj" fmla="val 41176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464040" y="228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</a:t>
            </a:r>
            <a:endParaRPr lang="en-US" sz="1000" dirty="0"/>
          </a:p>
        </p:txBody>
      </p:sp>
      <p:pic>
        <p:nvPicPr>
          <p:cNvPr id="6" name="Image 1" descr="/mnt/data/canada_vapes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48" y="5806440"/>
            <a:ext cx="96012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datasets, one complementary business story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05721" y="810212"/>
            <a:ext cx="922879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 two datasets could not be reliably merged because no validated shared customer or region key was available, so each was analyzed separately.</a:t>
            </a:r>
            <a:endParaRPr lang="en-US" sz="11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612648" y="1069848"/>
            <a:ext cx="10954512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58368" y="1417320"/>
            <a:ext cx="2331720" cy="1847088"/>
          </a:xfrm>
          <a:prstGeom prst="roundRect">
            <a:avLst>
              <a:gd name="adj" fmla="val 44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499616" y="1627632"/>
            <a:ext cx="658368" cy="658368"/>
          </a:xfrm>
          <a:prstGeom prst="ellipse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499616" y="173736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59536" y="2432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data</a:t>
            </a:r>
            <a:endParaRPr lang="en-US" sz="1520" dirty="0"/>
          </a:p>
        </p:txBody>
      </p:sp>
      <p:sp>
        <p:nvSpPr>
          <p:cNvPr id="14" name="Text 10"/>
          <p:cNvSpPr/>
          <p:nvPr/>
        </p:nvSpPr>
        <p:spPr>
          <a:xfrm>
            <a:off x="822960" y="278892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Sales, orders, customer type, products, coupons and time trends</a:t>
            </a:r>
            <a:endParaRPr lang="en-US" sz="1070" dirty="0"/>
          </a:p>
        </p:txBody>
      </p:sp>
      <p:sp>
        <p:nvSpPr>
          <p:cNvPr id="15" name="Text 11"/>
          <p:cNvSpPr/>
          <p:nvPr/>
        </p:nvSpPr>
        <p:spPr>
          <a:xfrm>
            <a:off x="3063240" y="20574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9BD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3600" dirty="0"/>
          </a:p>
        </p:txBody>
      </p:sp>
      <p:sp>
        <p:nvSpPr>
          <p:cNvPr id="16" name="Shape 12"/>
          <p:cNvSpPr/>
          <p:nvPr/>
        </p:nvSpPr>
        <p:spPr>
          <a:xfrm>
            <a:off x="3493008" y="1417320"/>
            <a:ext cx="2331720" cy="1847088"/>
          </a:xfrm>
          <a:prstGeom prst="roundRect">
            <a:avLst>
              <a:gd name="adj" fmla="val 4455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334256" y="1627632"/>
            <a:ext cx="658368" cy="658368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334256" y="173736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694176" y="2432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level regional data</a:t>
            </a:r>
            <a:endParaRPr lang="en-US" sz="1520" dirty="0"/>
          </a:p>
        </p:txBody>
      </p:sp>
      <p:sp>
        <p:nvSpPr>
          <p:cNvPr id="20" name="Text 16"/>
          <p:cNvSpPr/>
          <p:nvPr/>
        </p:nvSpPr>
        <p:spPr>
          <a:xfrm>
            <a:off x="3657600" y="278892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Province, customer activity, tenure, total spend, orders and regional AOV</a:t>
            </a:r>
            <a:endParaRPr lang="en-US" sz="1070" dirty="0"/>
          </a:p>
        </p:txBody>
      </p:sp>
      <p:sp>
        <p:nvSpPr>
          <p:cNvPr id="21" name="Text 17"/>
          <p:cNvSpPr/>
          <p:nvPr/>
        </p:nvSpPr>
        <p:spPr>
          <a:xfrm>
            <a:off x="5897880" y="20574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9BD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3600" dirty="0"/>
          </a:p>
        </p:txBody>
      </p:sp>
      <p:sp>
        <p:nvSpPr>
          <p:cNvPr id="22" name="Shape 18"/>
          <p:cNvSpPr/>
          <p:nvPr/>
        </p:nvSpPr>
        <p:spPr>
          <a:xfrm>
            <a:off x="6327648" y="1417320"/>
            <a:ext cx="2331720" cy="1847088"/>
          </a:xfrm>
          <a:prstGeom prst="roundRect">
            <a:avLst>
              <a:gd name="adj" fmla="val 44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168896" y="1627632"/>
            <a:ext cx="658368" cy="658368"/>
          </a:xfrm>
          <a:prstGeom prst="ellipse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7168896" y="173736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528816" y="2432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analysis</a:t>
            </a:r>
            <a:endParaRPr lang="en-US" sz="1520" dirty="0"/>
          </a:p>
        </p:txBody>
      </p:sp>
      <p:sp>
        <p:nvSpPr>
          <p:cNvPr id="26" name="Text 22"/>
          <p:cNvSpPr/>
          <p:nvPr/>
        </p:nvSpPr>
        <p:spPr>
          <a:xfrm>
            <a:off x="6492240" y="278892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cleaning, validation, KPI calculations, segmentation and forecast analysis</a:t>
            </a:r>
            <a:endParaRPr lang="en-US" sz="1070" dirty="0"/>
          </a:p>
        </p:txBody>
      </p:sp>
      <p:sp>
        <p:nvSpPr>
          <p:cNvPr id="27" name="Text 23"/>
          <p:cNvSpPr/>
          <p:nvPr/>
        </p:nvSpPr>
        <p:spPr>
          <a:xfrm>
            <a:off x="8732520" y="20574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9BD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3600" dirty="0"/>
          </a:p>
        </p:txBody>
      </p:sp>
      <p:sp>
        <p:nvSpPr>
          <p:cNvPr id="28" name="Shape 24"/>
          <p:cNvSpPr/>
          <p:nvPr/>
        </p:nvSpPr>
        <p:spPr>
          <a:xfrm>
            <a:off x="9162288" y="1417320"/>
            <a:ext cx="2331720" cy="1847088"/>
          </a:xfrm>
          <a:prstGeom prst="roundRect">
            <a:avLst>
              <a:gd name="adj" fmla="val 4455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10003536" y="1627632"/>
            <a:ext cx="658368" cy="658368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10003536" y="173736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9363456" y="2432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+ report</a:t>
            </a:r>
            <a:endParaRPr lang="en-US" sz="1520" dirty="0"/>
          </a:p>
        </p:txBody>
      </p:sp>
      <p:sp>
        <p:nvSpPr>
          <p:cNvPr id="32" name="Text 28"/>
          <p:cNvSpPr/>
          <p:nvPr/>
        </p:nvSpPr>
        <p:spPr>
          <a:xfrm>
            <a:off x="9326880" y="278892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Dashboards, regional priorities, findings and recommendations</a:t>
            </a:r>
            <a:endParaRPr lang="en-US" sz="1070" dirty="0"/>
          </a:p>
        </p:txBody>
      </p:sp>
      <p:sp>
        <p:nvSpPr>
          <p:cNvPr id="33" name="Shape 29"/>
          <p:cNvSpPr/>
          <p:nvPr/>
        </p:nvSpPr>
        <p:spPr>
          <a:xfrm>
            <a:off x="658368" y="3611880"/>
            <a:ext cx="10863072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914400" y="3767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analysis did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914400" y="4279392"/>
            <a:ext cx="82296" cy="82296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1051560" y="420624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completed positive-value orders so that refunds, fraud, reshipments and incomplete records did not distort KPIs.</a:t>
            </a:r>
            <a:endParaRPr lang="en-US" sz="1160" dirty="0"/>
          </a:p>
        </p:txBody>
      </p:sp>
      <p:sp>
        <p:nvSpPr>
          <p:cNvPr id="37" name="Shape 33"/>
          <p:cNvSpPr/>
          <p:nvPr/>
        </p:nvSpPr>
        <p:spPr>
          <a:xfrm>
            <a:off x="914400" y="4855464"/>
            <a:ext cx="82296" cy="82296"/>
          </a:xfrm>
          <a:prstGeom prst="ellipse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051560" y="478231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 sales, orders, AOV, repeat purchasing, customer segments, and forecast summaries at the correct grain.</a:t>
            </a:r>
            <a:endParaRPr lang="en-US" sz="1160" dirty="0"/>
          </a:p>
        </p:txBody>
      </p:sp>
      <p:sp>
        <p:nvSpPr>
          <p:cNvPr id="39" name="Shape 35"/>
          <p:cNvSpPr/>
          <p:nvPr/>
        </p:nvSpPr>
        <p:spPr>
          <a:xfrm>
            <a:off x="5989320" y="4279392"/>
            <a:ext cx="82296" cy="82296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6126480" y="4206240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Analyzed the regional dataset separately to compare customer </a:t>
            </a:r>
            <a:r>
              <a:rPr lang="en-US" sz="1160" dirty="0" err="1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behaviour</a:t>
            </a:r>
            <a:r>
              <a:rPr lang="en-US" sz="116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provincial opportunities.</a:t>
            </a:r>
            <a:endParaRPr lang="en-US" sz="1160" dirty="0"/>
          </a:p>
        </p:txBody>
      </p:sp>
      <p:sp>
        <p:nvSpPr>
          <p:cNvPr id="41" name="Shape 37"/>
          <p:cNvSpPr/>
          <p:nvPr/>
        </p:nvSpPr>
        <p:spPr>
          <a:xfrm>
            <a:off x="5989320" y="4855464"/>
            <a:ext cx="82296" cy="82296"/>
          </a:xfrm>
          <a:prstGeom prst="ellipse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6126480" y="4782312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Power BI to connect the findings to regional priorities and business recommendations.</a:t>
            </a:r>
            <a:endParaRPr lang="en-US" sz="1160" dirty="0"/>
          </a:p>
        </p:txBody>
      </p:sp>
      <p:sp>
        <p:nvSpPr>
          <p:cNvPr id="43" name="Shape 39"/>
          <p:cNvSpPr/>
          <p:nvPr/>
        </p:nvSpPr>
        <p:spPr>
          <a:xfrm>
            <a:off x="658368" y="5779008"/>
            <a:ext cx="10863072" cy="502920"/>
          </a:xfrm>
          <a:prstGeom prst="roundRect">
            <a:avLst>
              <a:gd name="adj" fmla="val 10909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868680" y="5861304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A7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limitation: the analysis estimates revenue opportunity; it cannot confirm profit without cost, margin and campaign-spend data.</a:t>
            </a:r>
            <a:endParaRPr lang="en-US" sz="11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canada_vape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46304"/>
            <a:ext cx="77724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72600" y="210312"/>
            <a:ext cx="1234440" cy="310896"/>
          </a:xfrm>
          <a:prstGeom prst="roundRect">
            <a:avLst>
              <a:gd name="adj" fmla="val 41176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464040" y="228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VIEW</a:t>
            </a:r>
            <a:endParaRPr lang="en-US" sz="1000" dirty="0"/>
          </a:p>
        </p:txBody>
      </p:sp>
      <p:pic>
        <p:nvPicPr>
          <p:cNvPr id="6" name="Image 1" descr="/mnt/data/canada_vapes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48" y="5806440"/>
            <a:ext cx="96012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performance at a glance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21792" y="8046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D6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 Vapes has a strong operating base, but the AOV remains below the stated target.</a:t>
            </a:r>
            <a:endParaRPr lang="en-US" sz="1320" dirty="0"/>
          </a:p>
        </p:txBody>
      </p:sp>
      <p:sp>
        <p:nvSpPr>
          <p:cNvPr id="9" name="Shape 5"/>
          <p:cNvSpPr/>
          <p:nvPr/>
        </p:nvSpPr>
        <p:spPr>
          <a:xfrm>
            <a:off x="612648" y="1069848"/>
            <a:ext cx="10954512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516636" y="4464932"/>
            <a:ext cx="10863072" cy="1499616"/>
          </a:xfrm>
          <a:prstGeom prst="roundRect">
            <a:avLst>
              <a:gd name="adj" fmla="val 7965"/>
            </a:avLst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645066" y="49880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3A1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takeaway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2834847" y="4690872"/>
            <a:ext cx="8275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 Vapes has a strong sales scale and customer base, but AOV remains below the $120 target. This creates an opportunity to increase the value of each order while continuing to grow repeat purchasing.</a:t>
            </a:r>
            <a:endParaRPr lang="en-US" sz="135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5926B306-3089-62F0-DF35-7FC7DE74FD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1" y="1435625"/>
            <a:ext cx="6927272" cy="2347633"/>
          </a:xfrm>
          <a:prstGeom prst="rect">
            <a:avLst/>
          </a:prstGeom>
        </p:spPr>
      </p:pic>
      <p:sp>
        <p:nvSpPr>
          <p:cNvPr id="52" name="Shape 24">
            <a:extLst>
              <a:ext uri="{FF2B5EF4-FFF2-40B4-BE49-F238E27FC236}">
                <a16:creationId xmlns:a16="http://schemas.microsoft.com/office/drawing/2014/main" id="{5B43F3F6-328E-18B5-DA7F-1CE5BD0072D8}"/>
              </a:ext>
            </a:extLst>
          </p:cNvPr>
          <p:cNvSpPr/>
          <p:nvPr/>
        </p:nvSpPr>
        <p:spPr>
          <a:xfrm>
            <a:off x="8142732" y="1517904"/>
            <a:ext cx="3424428" cy="2678930"/>
          </a:xfrm>
          <a:prstGeom prst="roundRect">
            <a:avLst>
              <a:gd name="adj" fmla="val 26923"/>
            </a:avLst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38">
            <a:extLst>
              <a:ext uri="{FF2B5EF4-FFF2-40B4-BE49-F238E27FC236}">
                <a16:creationId xmlns:a16="http://schemas.microsoft.com/office/drawing/2014/main" id="{4081EF61-B07D-B883-7DA8-DB17A21F9984}"/>
              </a:ext>
            </a:extLst>
          </p:cNvPr>
          <p:cNvSpPr/>
          <p:nvPr/>
        </p:nvSpPr>
        <p:spPr>
          <a:xfrm>
            <a:off x="8428691" y="1786002"/>
            <a:ext cx="2951017" cy="225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CA" sz="2400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57.1% of identifiable customers are repeat customers, showing that retention is already a strong part of the sales base.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canada_vape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46304"/>
            <a:ext cx="77724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72600" y="210312"/>
            <a:ext cx="1234440" cy="310896"/>
          </a:xfrm>
          <a:prstGeom prst="roundRect">
            <a:avLst>
              <a:gd name="adj" fmla="val 41176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464040" y="228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 1</a:t>
            </a:r>
            <a:endParaRPr lang="en-US" sz="1000" dirty="0"/>
          </a:p>
        </p:txBody>
      </p:sp>
      <p:pic>
        <p:nvPicPr>
          <p:cNvPr id="6" name="Image 1" descr="/mnt/data/canada_vapes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48" y="5806440"/>
            <a:ext cx="96012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are growing, and the forecast remains positive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21792" y="8046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D6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net sales more than doubled from 2021 to 2025.</a:t>
            </a:r>
            <a:endParaRPr lang="en-US" sz="1320" dirty="0"/>
          </a:p>
        </p:txBody>
      </p:sp>
      <p:sp>
        <p:nvSpPr>
          <p:cNvPr id="9" name="Shape 5"/>
          <p:cNvSpPr/>
          <p:nvPr/>
        </p:nvSpPr>
        <p:spPr>
          <a:xfrm>
            <a:off x="612648" y="1069848"/>
            <a:ext cx="10954512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8641080" y="1481328"/>
            <a:ext cx="28803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8641080" y="1481328"/>
            <a:ext cx="73152" cy="1143000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8860536" y="1627632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27.9%</a:t>
            </a:r>
            <a:endParaRPr lang="en-US" sz="2300" dirty="0"/>
          </a:p>
        </p:txBody>
      </p:sp>
      <p:sp>
        <p:nvSpPr>
          <p:cNvPr id="53" name="Text 49"/>
          <p:cNvSpPr/>
          <p:nvPr/>
        </p:nvSpPr>
        <p:spPr>
          <a:xfrm>
            <a:off x="8860536" y="203911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2021–2025 sales CAGR</a:t>
            </a:r>
            <a:endParaRPr lang="en-US" sz="1250" dirty="0"/>
          </a:p>
        </p:txBody>
      </p:sp>
      <p:sp>
        <p:nvSpPr>
          <p:cNvPr id="54" name="Text 50"/>
          <p:cNvSpPr/>
          <p:nvPr/>
        </p:nvSpPr>
        <p:spPr>
          <a:xfrm>
            <a:off x="8860536" y="2350008"/>
            <a:ext cx="2569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D6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historical momentum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8641080" y="2834640"/>
            <a:ext cx="28803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2"/>
          <p:cNvSpPr/>
          <p:nvPr/>
        </p:nvSpPr>
        <p:spPr>
          <a:xfrm>
            <a:off x="8641080" y="2834640"/>
            <a:ext cx="73152" cy="1143000"/>
          </a:xfrm>
          <a:prstGeom prst="rect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/>
          <p:nvPr/>
        </p:nvSpPr>
        <p:spPr>
          <a:xfrm>
            <a:off x="8860536" y="2980944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$8.0M</a:t>
            </a:r>
            <a:endParaRPr lang="en-US" sz="2300" dirty="0"/>
          </a:p>
        </p:txBody>
      </p:sp>
      <p:sp>
        <p:nvSpPr>
          <p:cNvPr id="58" name="Text 54"/>
          <p:cNvSpPr/>
          <p:nvPr/>
        </p:nvSpPr>
        <p:spPr>
          <a:xfrm>
            <a:off x="8860536" y="3392424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net sales by 2028</a:t>
            </a:r>
            <a:endParaRPr lang="en-US" sz="1250" dirty="0"/>
          </a:p>
        </p:txBody>
      </p:sp>
      <p:sp>
        <p:nvSpPr>
          <p:cNvPr id="59" name="Text 55"/>
          <p:cNvSpPr/>
          <p:nvPr/>
        </p:nvSpPr>
        <p:spPr>
          <a:xfrm>
            <a:off x="8860536" y="3703320"/>
            <a:ext cx="2569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D6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estimate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8641080" y="4187952"/>
            <a:ext cx="2880360" cy="150876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7"/>
          <p:cNvSpPr/>
          <p:nvPr/>
        </p:nvSpPr>
        <p:spPr>
          <a:xfrm>
            <a:off x="8887968" y="43891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management should use it</a:t>
            </a:r>
            <a:endParaRPr lang="en-US" sz="1400" dirty="0"/>
          </a:p>
        </p:txBody>
      </p:sp>
      <p:sp>
        <p:nvSpPr>
          <p:cNvPr id="62" name="Shape 58"/>
          <p:cNvSpPr/>
          <p:nvPr/>
        </p:nvSpPr>
        <p:spPr>
          <a:xfrm>
            <a:off x="8887968" y="4846320"/>
            <a:ext cx="82296" cy="82296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9"/>
          <p:cNvSpPr/>
          <p:nvPr/>
        </p:nvSpPr>
        <p:spPr>
          <a:xfrm>
            <a:off x="9025128" y="47731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actual vs forecast monthly</a:t>
            </a:r>
            <a:endParaRPr lang="en-US" sz="1070" dirty="0"/>
          </a:p>
        </p:txBody>
      </p:sp>
      <p:sp>
        <p:nvSpPr>
          <p:cNvPr id="64" name="Shape 60"/>
          <p:cNvSpPr/>
          <p:nvPr/>
        </p:nvSpPr>
        <p:spPr>
          <a:xfrm>
            <a:off x="8887968" y="5212080"/>
            <a:ext cx="82296" cy="82296"/>
          </a:xfrm>
          <a:prstGeom prst="ellipse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1"/>
          <p:cNvSpPr/>
          <p:nvPr/>
        </p:nvSpPr>
        <p:spPr>
          <a:xfrm>
            <a:off x="9025128" y="51389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major variance</a:t>
            </a:r>
            <a:endParaRPr lang="en-US" sz="1070" dirty="0"/>
          </a:p>
        </p:txBody>
      </p:sp>
      <p:sp>
        <p:nvSpPr>
          <p:cNvPr id="66" name="Shape 62"/>
          <p:cNvSpPr/>
          <p:nvPr/>
        </p:nvSpPr>
        <p:spPr>
          <a:xfrm>
            <a:off x="8887968" y="5577840"/>
            <a:ext cx="82296" cy="82296"/>
          </a:xfrm>
          <a:prstGeom prst="ellipse">
            <a:avLst/>
          </a:prstGeom>
          <a:solidFill>
            <a:srgbClr val="6D6F71"/>
          </a:solidFill>
          <a:ln w="12700">
            <a:solidFill>
              <a:srgbClr val="6D6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3"/>
          <p:cNvSpPr/>
          <p:nvPr/>
        </p:nvSpPr>
        <p:spPr>
          <a:xfrm>
            <a:off x="9025128" y="55046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treat the forecast as guaranteed</a:t>
            </a:r>
            <a:endParaRPr lang="en-US" sz="1070" dirty="0"/>
          </a:p>
        </p:txBody>
      </p:sp>
      <p:pic>
        <p:nvPicPr>
          <p:cNvPr id="75" name="Picture 74" descr="A graph showing the growth of the company's stock market&#10;&#10;AI-generated content may be incorrect.">
            <a:extLst>
              <a:ext uri="{FF2B5EF4-FFF2-40B4-BE49-F238E27FC236}">
                <a16:creationId xmlns:a16="http://schemas.microsoft.com/office/drawing/2014/main" id="{3949948A-27F0-2989-B2E3-2F2CE200C7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091" y="1325879"/>
            <a:ext cx="7772400" cy="45811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canada_vape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46304"/>
            <a:ext cx="77724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72600" y="210312"/>
            <a:ext cx="1234440" cy="310896"/>
          </a:xfrm>
          <a:prstGeom prst="roundRect">
            <a:avLst>
              <a:gd name="adj" fmla="val 41176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464040" y="228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 2</a:t>
            </a:r>
            <a:endParaRPr lang="en-US" sz="1000" dirty="0"/>
          </a:p>
        </p:txBody>
      </p:sp>
      <p:pic>
        <p:nvPicPr>
          <p:cNvPr id="6" name="Image 1" descr="/mnt/data/canada_vapes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48" y="5806440"/>
            <a:ext cx="96012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Returning customers drive most of the value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21792" y="8046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D6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is the strongest existing growth base.</a:t>
            </a:r>
            <a:endParaRPr lang="en-US" sz="1320" dirty="0"/>
          </a:p>
        </p:txBody>
      </p:sp>
      <p:sp>
        <p:nvSpPr>
          <p:cNvPr id="9" name="Shape 5"/>
          <p:cNvSpPr/>
          <p:nvPr/>
        </p:nvSpPr>
        <p:spPr>
          <a:xfrm>
            <a:off x="612648" y="1069848"/>
            <a:ext cx="10954512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56832" y="1417320"/>
            <a:ext cx="486460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656832" y="1417320"/>
            <a:ext cx="73152" cy="1170432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6999732" y="1764792"/>
            <a:ext cx="4219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Returning customer consistently completed more net sales than new customers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6656832" y="2770632"/>
            <a:ext cx="486460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Shape 32"/>
          <p:cNvSpPr/>
          <p:nvPr/>
        </p:nvSpPr>
        <p:spPr>
          <a:xfrm>
            <a:off x="6656832" y="2770632"/>
            <a:ext cx="73152" cy="1170432"/>
          </a:xfrm>
          <a:prstGeom prst="rect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6999732" y="3049524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returning customer sales trend increases strongly from 2021 to 2025. 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6656832" y="4123944"/>
            <a:ext cx="4864608" cy="1682496"/>
          </a:xfrm>
          <a:prstGeom prst="roundRect">
            <a:avLst>
              <a:gd name="adj" fmla="val 4891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6922008" y="437083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6922008" y="4828032"/>
            <a:ext cx="82296" cy="82296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7059168" y="475488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returning and high-value customers active.</a:t>
            </a: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6922008" y="5303520"/>
            <a:ext cx="82296" cy="82296"/>
          </a:xfrm>
          <a:prstGeom prst="ellipse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7059168" y="5230368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new customers to a relevant second purchase as early as possible.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658368" y="5980176"/>
            <a:ext cx="10863072" cy="438912"/>
          </a:xfrm>
          <a:prstGeom prst="roundRect">
            <a:avLst>
              <a:gd name="adj" fmla="val 10417"/>
            </a:avLst>
          </a:prstGeom>
          <a:solidFill>
            <a:srgbClr val="F6F0E2"/>
          </a:solidFill>
          <a:ln w="12700">
            <a:solidFill>
              <a:srgbClr val="F6F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868680" y="6053328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B5B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TAKEAWAY: Make retention  a major growth priority.</a:t>
            </a:r>
            <a:endParaRPr lang="en-US" sz="1150" dirty="0"/>
          </a:p>
        </p:txBody>
      </p:sp>
      <p:pic>
        <p:nvPicPr>
          <p:cNvPr id="49" name="Picture 48" descr="A graph of a graph showing the growth of customers&#10;&#10;AI-generated content may be incorrect.">
            <a:extLst>
              <a:ext uri="{FF2B5EF4-FFF2-40B4-BE49-F238E27FC236}">
                <a16:creationId xmlns:a16="http://schemas.microsoft.com/office/drawing/2014/main" id="{FC240C63-2A67-543F-BFF0-B57A158B2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228" y="1442812"/>
            <a:ext cx="6107852" cy="41105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canada_vape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46304"/>
            <a:ext cx="77724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72600" y="210312"/>
            <a:ext cx="1234440" cy="310896"/>
          </a:xfrm>
          <a:prstGeom prst="roundRect">
            <a:avLst>
              <a:gd name="adj" fmla="val 41176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464040" y="228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 3</a:t>
            </a:r>
            <a:endParaRPr lang="en-US" sz="1000" dirty="0"/>
          </a:p>
        </p:txBody>
      </p:sp>
      <p:pic>
        <p:nvPicPr>
          <p:cNvPr id="6" name="Image 1" descr="/mnt/data/canada_vapes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48" y="5806440"/>
            <a:ext cx="96012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 remains below the $120 target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21792" y="8046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D6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performance and the current forecast that customer AOV remains below target</a:t>
            </a:r>
            <a:endParaRPr lang="en-US" sz="1320" dirty="0"/>
          </a:p>
        </p:txBody>
      </p:sp>
      <p:sp>
        <p:nvSpPr>
          <p:cNvPr id="9" name="Shape 5"/>
          <p:cNvSpPr/>
          <p:nvPr/>
        </p:nvSpPr>
        <p:spPr>
          <a:xfrm>
            <a:off x="612648" y="1069848"/>
            <a:ext cx="10954512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84347" y="5122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 flipV="1">
            <a:off x="761932" y="5632495"/>
            <a:ext cx="60681" cy="82295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960120" y="5583761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basket value through bundles and cross-sell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38517" y="6236621"/>
            <a:ext cx="82296" cy="82296"/>
          </a:xfrm>
          <a:prstGeom prst="ellipse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960120" y="618051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relying only on broad discount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 flipV="1">
            <a:off x="3767605" y="5714790"/>
            <a:ext cx="82296" cy="82295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051069" y="5632495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minimum-spend thresholds and loyalty rewards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3767605" y="6238004"/>
            <a:ext cx="82296" cy="82296"/>
          </a:xfrm>
          <a:prstGeom prst="ellipse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039501" y="6193119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 recommendations for eligible adults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7680960" y="1371600"/>
            <a:ext cx="38404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7680960" y="1371600"/>
            <a:ext cx="73152" cy="1207008"/>
          </a:xfrm>
          <a:prstGeom prst="rect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8037576" y="1796796"/>
            <a:ext cx="3026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AOV is $101.62, below the $120 target</a:t>
            </a:r>
            <a:endParaRPr lang="en-US" dirty="0"/>
          </a:p>
        </p:txBody>
      </p:sp>
      <p:sp>
        <p:nvSpPr>
          <p:cNvPr id="31" name="Shape 27"/>
          <p:cNvSpPr/>
          <p:nvPr/>
        </p:nvSpPr>
        <p:spPr>
          <a:xfrm>
            <a:off x="7680960" y="2770632"/>
            <a:ext cx="38404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Shape 28"/>
          <p:cNvSpPr/>
          <p:nvPr/>
        </p:nvSpPr>
        <p:spPr>
          <a:xfrm>
            <a:off x="7680960" y="2770632"/>
            <a:ext cx="73152" cy="1207008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7992687" y="2839351"/>
            <a:ext cx="329017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performance and the current forecast show that customer AOV remain below target</a:t>
            </a:r>
            <a:endParaRPr lang="en-US" dirty="0"/>
          </a:p>
        </p:txBody>
      </p:sp>
      <p:sp>
        <p:nvSpPr>
          <p:cNvPr id="36" name="Shape 32"/>
          <p:cNvSpPr/>
          <p:nvPr/>
        </p:nvSpPr>
        <p:spPr>
          <a:xfrm>
            <a:off x="7680960" y="4169664"/>
            <a:ext cx="3840480" cy="1700784"/>
          </a:xfrm>
          <a:prstGeom prst="roundRect">
            <a:avLst>
              <a:gd name="adj" fmla="val 4839"/>
            </a:avLst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7973568" y="44439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2A1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</a:t>
            </a:r>
            <a:endParaRPr lang="en-US" sz="1700" dirty="0"/>
          </a:p>
        </p:txBody>
      </p:sp>
      <p:sp>
        <p:nvSpPr>
          <p:cNvPr id="38" name="Text 34"/>
          <p:cNvSpPr/>
          <p:nvPr/>
        </p:nvSpPr>
        <p:spPr>
          <a:xfrm>
            <a:off x="7973568" y="4937760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CA" sz="1400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Focus on increasing basket value through bundles, cross-sell, loyalty offers and carefully tested spending thresholds.</a:t>
            </a:r>
            <a:endParaRPr lang="en-US" sz="13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0CCF34C-D503-EA8C-7B11-B56C60FFD9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49" y="1283383"/>
            <a:ext cx="6668539" cy="3867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canada_vape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46304"/>
            <a:ext cx="77724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72600" y="210312"/>
            <a:ext cx="1234440" cy="310896"/>
          </a:xfrm>
          <a:prstGeom prst="roundRect">
            <a:avLst>
              <a:gd name="adj" fmla="val 41176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464040" y="228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 4</a:t>
            </a:r>
            <a:endParaRPr lang="en-US" sz="1000" dirty="0"/>
          </a:p>
        </p:txBody>
      </p:sp>
      <p:pic>
        <p:nvPicPr>
          <p:cNvPr id="6" name="Image 1" descr="/mnt/data/canada_vapes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48" y="5806440"/>
            <a:ext cx="96012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performance changes the story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21792" y="8046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D6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AOV does not automatically mean the largest business opportunity, customer reach and addressable gap also matters.</a:t>
            </a:r>
            <a:endParaRPr lang="en-US" sz="1320" dirty="0"/>
          </a:p>
        </p:txBody>
      </p:sp>
      <p:sp>
        <p:nvSpPr>
          <p:cNvPr id="9" name="Shape 5"/>
          <p:cNvSpPr/>
          <p:nvPr/>
        </p:nvSpPr>
        <p:spPr>
          <a:xfrm>
            <a:off x="612648" y="1069848"/>
            <a:ext cx="10954512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7356764" y="1434501"/>
            <a:ext cx="4557868" cy="896112"/>
          </a:xfrm>
          <a:prstGeom prst="roundRect">
            <a:avLst>
              <a:gd name="adj" fmla="val 9184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7601284" y="1686785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first</a:t>
            </a:r>
            <a:endParaRPr lang="en-US" sz="1450" dirty="0"/>
          </a:p>
        </p:txBody>
      </p:sp>
      <p:sp>
        <p:nvSpPr>
          <p:cNvPr id="33" name="Text 29"/>
          <p:cNvSpPr/>
          <p:nvPr/>
        </p:nvSpPr>
        <p:spPr>
          <a:xfrm>
            <a:off x="9178496" y="1696489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ON, QC</a:t>
            </a:r>
            <a:endParaRPr lang="en-US" sz="1220" dirty="0"/>
          </a:p>
        </p:txBody>
      </p:sp>
      <p:sp>
        <p:nvSpPr>
          <p:cNvPr id="34" name="Text 30"/>
          <p:cNvSpPr/>
          <p:nvPr/>
        </p:nvSpPr>
        <p:spPr>
          <a:xfrm>
            <a:off x="10134462" y="165125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reach and strongest priority scores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7356762" y="2523744"/>
            <a:ext cx="4557869" cy="896112"/>
          </a:xfrm>
          <a:prstGeom prst="roundRect">
            <a:avLst>
              <a:gd name="adj" fmla="val 9184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7601284" y="27067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/ expand</a:t>
            </a:r>
            <a:endParaRPr lang="en-US" sz="1450" dirty="0"/>
          </a:p>
        </p:txBody>
      </p:sp>
      <p:sp>
        <p:nvSpPr>
          <p:cNvPr id="37" name="Text 33"/>
          <p:cNvSpPr/>
          <p:nvPr/>
        </p:nvSpPr>
        <p:spPr>
          <a:xfrm>
            <a:off x="9178496" y="269096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NS, BC</a:t>
            </a:r>
            <a:endParaRPr lang="en-US" sz="1220" dirty="0"/>
          </a:p>
        </p:txBody>
      </p:sp>
      <p:sp>
        <p:nvSpPr>
          <p:cNvPr id="38" name="Text 34"/>
          <p:cNvSpPr/>
          <p:nvPr/>
        </p:nvSpPr>
        <p:spPr>
          <a:xfrm>
            <a:off x="10133769" y="2671923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bundles and thresholds at manageable scale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7356762" y="3621301"/>
            <a:ext cx="4503006" cy="896112"/>
          </a:xfrm>
          <a:prstGeom prst="roundRect">
            <a:avLst>
              <a:gd name="adj" fmla="val 9184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7601284" y="3785893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selectively</a:t>
            </a:r>
            <a:endParaRPr lang="en-US" sz="1450" dirty="0"/>
          </a:p>
        </p:txBody>
      </p:sp>
      <p:sp>
        <p:nvSpPr>
          <p:cNvPr id="41" name="Text 37"/>
          <p:cNvSpPr/>
          <p:nvPr/>
        </p:nvSpPr>
        <p:spPr>
          <a:xfrm>
            <a:off x="9178496" y="3758461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AB, NB</a:t>
            </a:r>
            <a:endParaRPr lang="en-US" sz="1220" dirty="0"/>
          </a:p>
        </p:txBody>
      </p:sp>
      <p:sp>
        <p:nvSpPr>
          <p:cNvPr id="42" name="Text 38"/>
          <p:cNvSpPr/>
          <p:nvPr/>
        </p:nvSpPr>
        <p:spPr>
          <a:xfrm>
            <a:off x="10133769" y="3776472"/>
            <a:ext cx="16698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narrower offers based on behaviour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7356762" y="4654573"/>
            <a:ext cx="4503006" cy="896112"/>
          </a:xfrm>
          <a:prstGeom prst="roundRect">
            <a:avLst>
              <a:gd name="adj" fmla="val 9184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7601284" y="488137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1450" dirty="0"/>
          </a:p>
        </p:txBody>
      </p:sp>
      <p:sp>
        <p:nvSpPr>
          <p:cNvPr id="45" name="Text 41"/>
          <p:cNvSpPr/>
          <p:nvPr/>
        </p:nvSpPr>
        <p:spPr>
          <a:xfrm>
            <a:off x="9178496" y="48127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Smaller regions</a:t>
            </a:r>
            <a:endParaRPr lang="en-US" sz="1220" dirty="0"/>
          </a:p>
        </p:txBody>
      </p:sp>
      <p:sp>
        <p:nvSpPr>
          <p:cNvPr id="46" name="Text 42"/>
          <p:cNvSpPr/>
          <p:nvPr/>
        </p:nvSpPr>
        <p:spPr>
          <a:xfrm>
            <a:off x="10133769" y="4773168"/>
            <a:ext cx="16698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averages may reflect low customer volume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621792" y="5993615"/>
            <a:ext cx="10863072" cy="457200"/>
          </a:xfrm>
          <a:prstGeom prst="roundRect">
            <a:avLst>
              <a:gd name="adj" fmla="val 10000"/>
            </a:avLst>
          </a:prstGeom>
          <a:solidFill>
            <a:srgbClr val="F6F0E2"/>
          </a:solidFill>
          <a:ln w="12700">
            <a:solidFill>
              <a:srgbClr val="F6F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707136" y="6124679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7B5B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where learning is manageable; scale where reach is large; monitor where high AOV may be driven by a small base.</a:t>
            </a:r>
            <a:endParaRPr lang="en-US" sz="1120" dirty="0"/>
          </a:p>
        </p:txBody>
      </p:sp>
      <p:pic>
        <p:nvPicPr>
          <p:cNvPr id="52" name="Picture 51" descr="A graph and chart of a graph&#10;&#10;AI-generated content may be incorrect.">
            <a:extLst>
              <a:ext uri="{FF2B5EF4-FFF2-40B4-BE49-F238E27FC236}">
                <a16:creationId xmlns:a16="http://schemas.microsoft.com/office/drawing/2014/main" id="{E6EBB0B3-79B9-CC08-3854-266BE3AF6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947" y="1202090"/>
            <a:ext cx="7057869" cy="3766150"/>
          </a:xfrm>
          <a:prstGeom prst="rect">
            <a:avLst/>
          </a:prstGeom>
        </p:spPr>
      </p:pic>
      <p:sp>
        <p:nvSpPr>
          <p:cNvPr id="53" name="Shape 37">
            <a:extLst>
              <a:ext uri="{FF2B5EF4-FFF2-40B4-BE49-F238E27FC236}">
                <a16:creationId xmlns:a16="http://schemas.microsoft.com/office/drawing/2014/main" id="{B11A83BA-93BE-1661-69E0-D2D1307D1D0B}"/>
              </a:ext>
            </a:extLst>
          </p:cNvPr>
          <p:cNvSpPr/>
          <p:nvPr/>
        </p:nvSpPr>
        <p:spPr>
          <a:xfrm>
            <a:off x="612648" y="4997136"/>
            <a:ext cx="6189934" cy="546001"/>
          </a:xfrm>
          <a:prstGeom prst="roundRect">
            <a:avLst>
              <a:gd name="adj" fmla="val 20000"/>
            </a:avLst>
          </a:prstGeom>
          <a:solidFill>
            <a:srgbClr val="6D6F71"/>
          </a:solidFill>
          <a:ln w="12700">
            <a:solidFill>
              <a:srgbClr val="6D6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38">
            <a:extLst>
              <a:ext uri="{FF2B5EF4-FFF2-40B4-BE49-F238E27FC236}">
                <a16:creationId xmlns:a16="http://schemas.microsoft.com/office/drawing/2014/main" id="{3CA088E6-1CBC-96B4-728A-C05FCBF9ECB4}"/>
              </a:ext>
            </a:extLst>
          </p:cNvPr>
          <p:cNvSpPr/>
          <p:nvPr/>
        </p:nvSpPr>
        <p:spPr>
          <a:xfrm>
            <a:off x="612648" y="5074025"/>
            <a:ext cx="6000681" cy="439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CA" sz="1600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ON and QC rank highest for scale, while NS and BC are better suited for pilot testing before wider rollout.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canada_vape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46304"/>
            <a:ext cx="77724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72600" y="210312"/>
            <a:ext cx="1234440" cy="310896"/>
          </a:xfrm>
          <a:prstGeom prst="roundRect">
            <a:avLst>
              <a:gd name="adj" fmla="val 41176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464040" y="228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000" dirty="0"/>
          </a:p>
        </p:txBody>
      </p:sp>
      <p:pic>
        <p:nvPicPr>
          <p:cNvPr id="6" name="Image 1" descr="/mnt/data/canada_vapes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48" y="5806440"/>
            <a:ext cx="96012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growth strategy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21792" y="8046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D6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actions link the findings to measurable business decisions.</a:t>
            </a:r>
            <a:endParaRPr lang="en-US" sz="1320" dirty="0"/>
          </a:p>
        </p:txBody>
      </p:sp>
      <p:sp>
        <p:nvSpPr>
          <p:cNvPr id="9" name="Shape 5"/>
          <p:cNvSpPr/>
          <p:nvPr/>
        </p:nvSpPr>
        <p:spPr>
          <a:xfrm>
            <a:off x="612648" y="1069848"/>
            <a:ext cx="10954512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58368" y="1389888"/>
            <a:ext cx="5074920" cy="178308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859536" y="1600200"/>
            <a:ext cx="438912" cy="438912"/>
          </a:xfrm>
          <a:prstGeom prst="ellipse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59536" y="165506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44752" y="15910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with metrics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877824" y="2322576"/>
            <a:ext cx="4572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one clear definition for AOV, regional AOV, target gap and repeat rate before scaling campaigns.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99632" y="1389888"/>
            <a:ext cx="5074920" cy="1783080"/>
          </a:xfrm>
          <a:prstGeom prst="roundRect">
            <a:avLst>
              <a:gd name="adj" fmla="val 4615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0" y="1600200"/>
            <a:ext cx="438912" cy="438912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400800" y="165506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986016" y="15910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retention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419088" y="2322576"/>
            <a:ext cx="4572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second purchase conversion and keep high-value returning customers active with relevant reminders and loyalty offers.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58368" y="3675888"/>
            <a:ext cx="5074920" cy="178308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59536" y="3886200"/>
            <a:ext cx="438912" cy="438912"/>
          </a:xfrm>
          <a:prstGeom prst="ellipse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859536" y="394106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444752" y="38770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basket value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877824" y="4605251"/>
            <a:ext cx="4572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complementary bundles, cross-sell and minimum-spend offers instead of relying on broad discounts.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199632" y="3675888"/>
            <a:ext cx="5074920" cy="1783080"/>
          </a:xfrm>
          <a:prstGeom prst="roundRect">
            <a:avLst>
              <a:gd name="adj" fmla="val 4615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400800" y="3886200"/>
            <a:ext cx="438912" cy="438912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400800" y="394106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986016" y="38770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before scaling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6419088" y="4608576"/>
            <a:ext cx="48554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campaigns in selected regions, measure the results, and scale only the strategies that show clear improvement.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58368" y="5742432"/>
            <a:ext cx="10863072" cy="502920"/>
          </a:xfrm>
          <a:prstGeom prst="roundRect">
            <a:avLst>
              <a:gd name="adj" fmla="val 16364"/>
            </a:avLst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841248" y="584301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rule: no campaign scales without reconciled KPIs, positive lift, acceptable contribution and compliance approval.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canada_vape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46304"/>
            <a:ext cx="77724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72600" y="210312"/>
            <a:ext cx="1234440" cy="310896"/>
          </a:xfrm>
          <a:prstGeom prst="roundRect">
            <a:avLst>
              <a:gd name="adj" fmla="val 41176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464040" y="228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1000" dirty="0"/>
          </a:p>
        </p:txBody>
      </p:sp>
      <p:pic>
        <p:nvPicPr>
          <p:cNvPr id="6" name="Image 1" descr="/mnt/data/canada_vapes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48" y="5806440"/>
            <a:ext cx="96012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90-day implementation plan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21792" y="80467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D6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→ Pilot → Measure → Scale</a:t>
            </a:r>
            <a:endParaRPr lang="en-US" sz="1320" dirty="0"/>
          </a:p>
        </p:txBody>
      </p:sp>
      <p:sp>
        <p:nvSpPr>
          <p:cNvPr id="9" name="Shape 5"/>
          <p:cNvSpPr/>
          <p:nvPr/>
        </p:nvSpPr>
        <p:spPr>
          <a:xfrm>
            <a:off x="612648" y="1069848"/>
            <a:ext cx="10954512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188720" y="2816352"/>
            <a:ext cx="9784080" cy="0"/>
          </a:xfrm>
          <a:prstGeom prst="line">
            <a:avLst/>
          </a:prstGeom>
          <a:noFill/>
          <a:ln w="50800">
            <a:solidFill>
              <a:srgbClr val="BFC4C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207008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1–15</a:t>
            </a:r>
            <a:endParaRPr lang="en-US" sz="1220" dirty="0"/>
          </a:p>
        </p:txBody>
      </p:sp>
      <p:sp>
        <p:nvSpPr>
          <p:cNvPr id="12" name="Shape 8"/>
          <p:cNvSpPr/>
          <p:nvPr/>
        </p:nvSpPr>
        <p:spPr>
          <a:xfrm>
            <a:off x="1636776" y="2551176"/>
            <a:ext cx="530352" cy="530352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636776" y="267919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3337560"/>
            <a:ext cx="2249424" cy="1719072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987552" y="3575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measures</a:t>
            </a:r>
            <a:endParaRPr lang="en-US" sz="1530" dirty="0"/>
          </a:p>
        </p:txBody>
      </p:sp>
      <p:sp>
        <p:nvSpPr>
          <p:cNvPr id="16" name="Text 12"/>
          <p:cNvSpPr/>
          <p:nvPr/>
        </p:nvSpPr>
        <p:spPr>
          <a:xfrm>
            <a:off x="987552" y="40690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AOV definitions, filters, lineage, refresh rules and ownership.</a:t>
            </a:r>
            <a:endParaRPr lang="en-US" sz="1070" dirty="0"/>
          </a:p>
        </p:txBody>
      </p:sp>
      <p:sp>
        <p:nvSpPr>
          <p:cNvPr id="17" name="Shape 13"/>
          <p:cNvSpPr/>
          <p:nvPr/>
        </p:nvSpPr>
        <p:spPr>
          <a:xfrm>
            <a:off x="969264" y="4663440"/>
            <a:ext cx="1956816" cy="274320"/>
          </a:xfrm>
          <a:prstGeom prst="roundRect">
            <a:avLst>
              <a:gd name="adj" fmla="val 20000"/>
            </a:avLst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1024128" y="470001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Gate: trusted scorecard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995928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16–45</a:t>
            </a:r>
            <a:endParaRPr lang="en-US" sz="1220" dirty="0"/>
          </a:p>
        </p:txBody>
      </p:sp>
      <p:sp>
        <p:nvSpPr>
          <p:cNvPr id="20" name="Shape 16"/>
          <p:cNvSpPr/>
          <p:nvPr/>
        </p:nvSpPr>
        <p:spPr>
          <a:xfrm>
            <a:off x="4425696" y="2551176"/>
            <a:ext cx="530352" cy="530352"/>
          </a:xfrm>
          <a:prstGeom prst="ellipse">
            <a:avLst/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425696" y="267919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611880" y="3337560"/>
            <a:ext cx="2249424" cy="1719072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776472" y="3575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pilots</a:t>
            </a:r>
            <a:endParaRPr lang="en-US" sz="1530" dirty="0"/>
          </a:p>
        </p:txBody>
      </p:sp>
      <p:sp>
        <p:nvSpPr>
          <p:cNvPr id="24" name="Text 20"/>
          <p:cNvSpPr/>
          <p:nvPr/>
        </p:nvSpPr>
        <p:spPr>
          <a:xfrm>
            <a:off x="3776472" y="40690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eligible treatment and holdout groups; prepare NS/BC tests.</a:t>
            </a:r>
            <a:endParaRPr lang="en-US" sz="1070" dirty="0"/>
          </a:p>
        </p:txBody>
      </p:sp>
      <p:sp>
        <p:nvSpPr>
          <p:cNvPr id="25" name="Shape 21"/>
          <p:cNvSpPr/>
          <p:nvPr/>
        </p:nvSpPr>
        <p:spPr>
          <a:xfrm>
            <a:off x="3758184" y="4663440"/>
            <a:ext cx="1956816" cy="274320"/>
          </a:xfrm>
          <a:prstGeom prst="roundRect">
            <a:avLst>
              <a:gd name="adj" fmla="val 20000"/>
            </a:avLst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813048" y="470001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Gate: valid test design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784848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A7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46–75</a:t>
            </a:r>
            <a:endParaRPr lang="en-US" sz="1220" dirty="0"/>
          </a:p>
        </p:txBody>
      </p:sp>
      <p:sp>
        <p:nvSpPr>
          <p:cNvPr id="28" name="Shape 24"/>
          <p:cNvSpPr/>
          <p:nvPr/>
        </p:nvSpPr>
        <p:spPr>
          <a:xfrm>
            <a:off x="7214616" y="2551176"/>
            <a:ext cx="530352" cy="530352"/>
          </a:xfrm>
          <a:prstGeom prst="ellipse">
            <a:avLst/>
          </a:prstGeom>
          <a:solidFill>
            <a:srgbClr val="A7181E"/>
          </a:solidFill>
          <a:ln w="12700">
            <a:solidFill>
              <a:srgbClr val="A718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7214616" y="267919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400800" y="3337560"/>
            <a:ext cx="2249424" cy="1719072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565392" y="3575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and measure</a:t>
            </a:r>
            <a:endParaRPr lang="en-US" sz="1530" dirty="0"/>
          </a:p>
        </p:txBody>
      </p:sp>
      <p:sp>
        <p:nvSpPr>
          <p:cNvPr id="32" name="Text 28"/>
          <p:cNvSpPr/>
          <p:nvPr/>
        </p:nvSpPr>
        <p:spPr>
          <a:xfrm>
            <a:off x="6565392" y="40690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AOV, conversion, order rate, margin proxy, quality and campaign performance.</a:t>
            </a:r>
            <a:endParaRPr lang="en-US" sz="1070" dirty="0"/>
          </a:p>
        </p:txBody>
      </p:sp>
      <p:sp>
        <p:nvSpPr>
          <p:cNvPr id="33" name="Shape 29"/>
          <p:cNvSpPr/>
          <p:nvPr/>
        </p:nvSpPr>
        <p:spPr>
          <a:xfrm>
            <a:off x="6547104" y="4663440"/>
            <a:ext cx="1956816" cy="274320"/>
          </a:xfrm>
          <a:prstGeom prst="roundRect">
            <a:avLst>
              <a:gd name="adj" fmla="val 20000"/>
            </a:avLst>
          </a:prstGeom>
          <a:solidFill>
            <a:srgbClr val="A7181E"/>
          </a:solidFill>
          <a:ln w="12700">
            <a:solidFill>
              <a:srgbClr val="A718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6601968" y="470001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Gate: positive lift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9573768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6D6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76–90</a:t>
            </a:r>
            <a:endParaRPr lang="en-US" sz="1220" dirty="0"/>
          </a:p>
        </p:txBody>
      </p:sp>
      <p:sp>
        <p:nvSpPr>
          <p:cNvPr id="36" name="Shape 32"/>
          <p:cNvSpPr/>
          <p:nvPr/>
        </p:nvSpPr>
        <p:spPr>
          <a:xfrm>
            <a:off x="10003536" y="2551176"/>
            <a:ext cx="530352" cy="530352"/>
          </a:xfrm>
          <a:prstGeom prst="ellipse">
            <a:avLst/>
          </a:prstGeom>
          <a:solidFill>
            <a:srgbClr val="6D6F71"/>
          </a:solidFill>
          <a:ln w="12700">
            <a:solidFill>
              <a:srgbClr val="6D6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003536" y="267919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9189720" y="3337560"/>
            <a:ext cx="2249424" cy="1719072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9354312" y="3575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decision</a:t>
            </a:r>
            <a:endParaRPr lang="en-US" sz="1530" dirty="0"/>
          </a:p>
        </p:txBody>
      </p:sp>
      <p:sp>
        <p:nvSpPr>
          <p:cNvPr id="40" name="Text 36"/>
          <p:cNvSpPr/>
          <p:nvPr/>
        </p:nvSpPr>
        <p:spPr>
          <a:xfrm>
            <a:off x="9354312" y="40690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outcomes, update the forecast and scale proven tactics to ON/QC.</a:t>
            </a:r>
            <a:endParaRPr lang="en-US" sz="1070" dirty="0"/>
          </a:p>
        </p:txBody>
      </p:sp>
      <p:sp>
        <p:nvSpPr>
          <p:cNvPr id="41" name="Shape 37"/>
          <p:cNvSpPr/>
          <p:nvPr/>
        </p:nvSpPr>
        <p:spPr>
          <a:xfrm>
            <a:off x="9336024" y="4663440"/>
            <a:ext cx="1956816" cy="274320"/>
          </a:xfrm>
          <a:prstGeom prst="roundRect">
            <a:avLst>
              <a:gd name="adj" fmla="val 20000"/>
            </a:avLst>
          </a:prstGeom>
          <a:solidFill>
            <a:srgbClr val="6D6F71"/>
          </a:solidFill>
          <a:ln w="12700">
            <a:solidFill>
              <a:srgbClr val="6D6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9390888" y="470001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Gate: scale / no-scale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658368" y="5888736"/>
            <a:ext cx="10863072" cy="475488"/>
          </a:xfrm>
          <a:prstGeom prst="roundRect">
            <a:avLst>
              <a:gd name="adj" fmla="val 961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868680" y="598017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phase has a decision gate. Progress is earned by evidence, not assumed because the calendar moved forward.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43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canada_vape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46304"/>
            <a:ext cx="77724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72600" y="210312"/>
            <a:ext cx="1234440" cy="310896"/>
          </a:xfrm>
          <a:prstGeom prst="roundRect">
            <a:avLst>
              <a:gd name="adj" fmla="val 411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464040" y="228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000" dirty="0"/>
          </a:p>
        </p:txBody>
      </p:sp>
      <p:pic>
        <p:nvPicPr>
          <p:cNvPr id="6" name="Image 1" descr="/mnt/data/canada_vapes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48" y="5806440"/>
            <a:ext cx="96012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43891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to keep in view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658368" y="1417320"/>
            <a:ext cx="3401568" cy="1508760"/>
          </a:xfrm>
          <a:prstGeom prst="roundRect">
            <a:avLst>
              <a:gd name="adj" fmla="val 5455"/>
            </a:avLst>
          </a:prstGeom>
          <a:solidFill>
            <a:srgbClr val="4A4F54"/>
          </a:solidFill>
          <a:ln w="12700">
            <a:solidFill>
              <a:srgbClr val="6468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859536" y="1664208"/>
            <a:ext cx="384048" cy="384048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59536" y="17282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389888" y="1600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Disconnected datasets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59536" y="217627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1E1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findings could not be linked directly to individual orders, products, coupons or customer types.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89120" y="1417320"/>
            <a:ext cx="3401568" cy="1508760"/>
          </a:xfrm>
          <a:prstGeom prst="roundRect">
            <a:avLst>
              <a:gd name="adj" fmla="val 5455"/>
            </a:avLst>
          </a:prstGeom>
          <a:solidFill>
            <a:srgbClr val="4A4F54"/>
          </a:solidFill>
          <a:ln w="12700">
            <a:solidFill>
              <a:srgbClr val="6468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590288" y="1664208"/>
            <a:ext cx="384048" cy="384048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590288" y="17282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120640" y="1600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Revenue, not profit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90288" y="217627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1E1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files did not include product cost, margin, shipping, payment fees or campaign spend.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19872" y="1417320"/>
            <a:ext cx="3401568" cy="1508760"/>
          </a:xfrm>
          <a:prstGeom prst="roundRect">
            <a:avLst>
              <a:gd name="adj" fmla="val 5455"/>
            </a:avLst>
          </a:prstGeom>
          <a:solidFill>
            <a:srgbClr val="4A4F54"/>
          </a:solidFill>
          <a:ln w="12700">
            <a:solidFill>
              <a:srgbClr val="6468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321040" y="1664208"/>
            <a:ext cx="384048" cy="384048"/>
          </a:xfrm>
          <a:prstGeom prst="ellipse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321040" y="17282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851392" y="1600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and activation limits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8321040" y="217627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1E1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Forecasts require monthly validation, while age eligibility and consent must be checked before marketing use.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13232" y="355590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A1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58368" y="3931921"/>
            <a:ext cx="64922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value base.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basket value.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only proven growth.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689956" y="5756287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E2E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 Vapes has positive momentum. The strongest next move is a controlled 90-day program that standardizes AOV measures, improves repeat purchasing, tests basket-building offers and scales only what produces incremental value responsibly.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canada_vapes_ful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50292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80360" y="38862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880360" y="4663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and discussion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5724144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D6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Absasiaka Anwanakak  •  Gift Oyugi  •  Damian Okelue  •  Sahil Kamane  •  Busayo Adebayo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2027"/>
          </a:solidFill>
          <a:ln w="12700">
            <a:solidFill>
              <a:srgbClr val="CF20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canada_vape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46304"/>
            <a:ext cx="77724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72600" y="210312"/>
            <a:ext cx="1234440" cy="310896"/>
          </a:xfrm>
          <a:prstGeom prst="roundRect">
            <a:avLst>
              <a:gd name="adj" fmla="val 41176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464040" y="228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F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 BACKUP</a:t>
            </a:r>
            <a:endParaRPr lang="en-US" sz="1000" dirty="0"/>
          </a:p>
        </p:txBody>
      </p:sp>
      <p:pic>
        <p:nvPicPr>
          <p:cNvPr id="6" name="Image 1" descr="/mnt/data/canada_vapes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48" y="5806440"/>
            <a:ext cx="96012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43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why the AOV values differ</a:t>
            </a:r>
            <a:endParaRPr lang="en-US" sz="2600" dirty="0"/>
          </a:p>
        </p:txBody>
      </p:sp>
      <p:sp>
        <p:nvSpPr>
          <p:cNvPr id="9" name="Shape 5"/>
          <p:cNvSpPr/>
          <p:nvPr/>
        </p:nvSpPr>
        <p:spPr>
          <a:xfrm>
            <a:off x="612648" y="1069848"/>
            <a:ext cx="10954512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58368" y="1444752"/>
            <a:ext cx="10863072" cy="493776"/>
          </a:xfrm>
          <a:prstGeom prst="roundRect">
            <a:avLst>
              <a:gd name="adj" fmla="val 7407"/>
            </a:avLst>
          </a:prstGeom>
          <a:solidFill>
            <a:srgbClr val="34383C"/>
          </a:solidFill>
          <a:ln w="12700">
            <a:solidFill>
              <a:srgbClr val="3438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68096" y="1527048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 measure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538728" y="1527048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681728" y="1527048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Calculation grain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842248" y="1527048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answers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58368" y="1938528"/>
            <a:ext cx="10863072" cy="658368"/>
          </a:xfrm>
          <a:prstGeom prst="rect">
            <a:avLst/>
          </a:prstGeom>
          <a:solidFill>
            <a:srgbClr val="F7F7F7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68096" y="205740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Completed-order AOV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3538728" y="2057400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$102.59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3429000" y="1938528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681728" y="2057400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net sales ÷ completed orders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4572000" y="1938528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842248" y="205740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basket value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8732520" y="1938528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58368" y="2596896"/>
            <a:ext cx="108630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768096" y="2715768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dashboard AOV</a:t>
            </a:r>
            <a:endParaRPr lang="en-US" sz="1080" dirty="0"/>
          </a:p>
        </p:txBody>
      </p:sp>
      <p:sp>
        <p:nvSpPr>
          <p:cNvPr id="25" name="Text 21"/>
          <p:cNvSpPr/>
          <p:nvPr/>
        </p:nvSpPr>
        <p:spPr>
          <a:xfrm>
            <a:off x="3538728" y="2715768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$101.84</a:t>
            </a:r>
            <a:endParaRPr lang="en-US" sz="1080" dirty="0"/>
          </a:p>
        </p:txBody>
      </p:sp>
      <p:sp>
        <p:nvSpPr>
          <p:cNvPr id="26" name="Shape 22"/>
          <p:cNvSpPr/>
          <p:nvPr/>
        </p:nvSpPr>
        <p:spPr>
          <a:xfrm>
            <a:off x="3429000" y="2596896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681728" y="2715768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filter context</a:t>
            </a:r>
            <a:endParaRPr lang="en-US" sz="1080" dirty="0"/>
          </a:p>
        </p:txBody>
      </p:sp>
      <p:sp>
        <p:nvSpPr>
          <p:cNvPr id="28" name="Shape 24"/>
          <p:cNvSpPr/>
          <p:nvPr/>
        </p:nvSpPr>
        <p:spPr>
          <a:xfrm>
            <a:off x="4572000" y="2596896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8842248" y="2715768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dashboard view</a:t>
            </a:r>
            <a:endParaRPr lang="en-US" sz="1080" dirty="0"/>
          </a:p>
        </p:txBody>
      </p:sp>
      <p:sp>
        <p:nvSpPr>
          <p:cNvPr id="30" name="Shape 26"/>
          <p:cNvSpPr/>
          <p:nvPr/>
        </p:nvSpPr>
        <p:spPr>
          <a:xfrm>
            <a:off x="8732520" y="2596896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58368" y="3255264"/>
            <a:ext cx="10863072" cy="658368"/>
          </a:xfrm>
          <a:prstGeom prst="rect">
            <a:avLst/>
          </a:prstGeom>
          <a:solidFill>
            <a:srgbClr val="F7F7F7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768096" y="337413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dashboard AOV</a:t>
            </a:r>
            <a:endParaRPr lang="en-US" sz="1080" dirty="0"/>
          </a:p>
        </p:txBody>
      </p:sp>
      <p:sp>
        <p:nvSpPr>
          <p:cNvPr id="33" name="Text 29"/>
          <p:cNvSpPr/>
          <p:nvPr/>
        </p:nvSpPr>
        <p:spPr>
          <a:xfrm>
            <a:off x="3538728" y="3374136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$101.62</a:t>
            </a:r>
            <a:endParaRPr lang="en-US" sz="1080" dirty="0"/>
          </a:p>
        </p:txBody>
      </p:sp>
      <p:sp>
        <p:nvSpPr>
          <p:cNvPr id="34" name="Shape 30"/>
          <p:cNvSpPr/>
          <p:nvPr/>
        </p:nvSpPr>
        <p:spPr>
          <a:xfrm>
            <a:off x="3429000" y="3255264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681728" y="3374136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across customer level regional measures</a:t>
            </a:r>
            <a:endParaRPr lang="en-US" sz="1080" dirty="0"/>
          </a:p>
        </p:txBody>
      </p:sp>
      <p:sp>
        <p:nvSpPr>
          <p:cNvPr id="36" name="Shape 32"/>
          <p:cNvSpPr/>
          <p:nvPr/>
        </p:nvSpPr>
        <p:spPr>
          <a:xfrm>
            <a:off x="4572000" y="3255264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8842248" y="3374136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comparison</a:t>
            </a:r>
            <a:endParaRPr lang="en-US" sz="1080" dirty="0"/>
          </a:p>
        </p:txBody>
      </p:sp>
      <p:sp>
        <p:nvSpPr>
          <p:cNvPr id="38" name="Shape 34"/>
          <p:cNvSpPr/>
          <p:nvPr/>
        </p:nvSpPr>
        <p:spPr>
          <a:xfrm>
            <a:off x="8732520" y="3255264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658368" y="3913632"/>
            <a:ext cx="108630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768096" y="4032504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customer AOV</a:t>
            </a:r>
            <a:endParaRPr lang="en-US" sz="1080" dirty="0"/>
          </a:p>
        </p:txBody>
      </p:sp>
      <p:sp>
        <p:nvSpPr>
          <p:cNvPr id="41" name="Text 37"/>
          <p:cNvSpPr/>
          <p:nvPr/>
        </p:nvSpPr>
        <p:spPr>
          <a:xfrm>
            <a:off x="3538728" y="4032504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$100.50</a:t>
            </a:r>
            <a:endParaRPr lang="en-US" sz="1080" dirty="0"/>
          </a:p>
        </p:txBody>
      </p:sp>
      <p:sp>
        <p:nvSpPr>
          <p:cNvPr id="42" name="Shape 38"/>
          <p:cNvSpPr/>
          <p:nvPr/>
        </p:nvSpPr>
        <p:spPr>
          <a:xfrm>
            <a:off x="3429000" y="3913632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4681728" y="4032504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of customer-level AOV values</a:t>
            </a:r>
            <a:endParaRPr lang="en-US" sz="1080" dirty="0"/>
          </a:p>
        </p:txBody>
      </p:sp>
      <p:sp>
        <p:nvSpPr>
          <p:cNvPr id="44" name="Shape 40"/>
          <p:cNvSpPr/>
          <p:nvPr/>
        </p:nvSpPr>
        <p:spPr>
          <a:xfrm>
            <a:off x="4572000" y="3913632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8842248" y="403250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customer behaviour</a:t>
            </a:r>
            <a:endParaRPr lang="en-US" sz="1080" dirty="0"/>
          </a:p>
        </p:txBody>
      </p:sp>
      <p:sp>
        <p:nvSpPr>
          <p:cNvPr id="46" name="Shape 42"/>
          <p:cNvSpPr/>
          <p:nvPr/>
        </p:nvSpPr>
        <p:spPr>
          <a:xfrm>
            <a:off x="8732520" y="3913632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658368" y="4572000"/>
            <a:ext cx="10863072" cy="658368"/>
          </a:xfrm>
          <a:prstGeom prst="rect">
            <a:avLst/>
          </a:prstGeom>
          <a:solidFill>
            <a:srgbClr val="F7F7F7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768096" y="4690872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customer AOV</a:t>
            </a:r>
            <a:endParaRPr lang="en-US" sz="1080" dirty="0"/>
          </a:p>
        </p:txBody>
      </p:sp>
      <p:sp>
        <p:nvSpPr>
          <p:cNvPr id="49" name="Text 45"/>
          <p:cNvSpPr/>
          <p:nvPr/>
        </p:nvSpPr>
        <p:spPr>
          <a:xfrm>
            <a:off x="3538728" y="4690872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$84.73</a:t>
            </a:r>
            <a:endParaRPr lang="en-US" sz="1080" dirty="0"/>
          </a:p>
        </p:txBody>
      </p:sp>
      <p:sp>
        <p:nvSpPr>
          <p:cNvPr id="50" name="Shape 46"/>
          <p:cNvSpPr/>
          <p:nvPr/>
        </p:nvSpPr>
        <p:spPr>
          <a:xfrm>
            <a:off x="3429000" y="4572000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4681728" y="4690872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customer-level AOV</a:t>
            </a:r>
            <a:endParaRPr lang="en-US" sz="1080" dirty="0"/>
          </a:p>
        </p:txBody>
      </p:sp>
      <p:sp>
        <p:nvSpPr>
          <p:cNvPr id="52" name="Shape 48"/>
          <p:cNvSpPr/>
          <p:nvPr/>
        </p:nvSpPr>
        <p:spPr>
          <a:xfrm>
            <a:off x="4572000" y="4572000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/>
          <p:nvPr/>
        </p:nvSpPr>
        <p:spPr>
          <a:xfrm>
            <a:off x="8842248" y="469087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3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sensitive to high-value outliers</a:t>
            </a:r>
            <a:endParaRPr lang="en-US" sz="1080" dirty="0"/>
          </a:p>
        </p:txBody>
      </p:sp>
      <p:sp>
        <p:nvSpPr>
          <p:cNvPr id="54" name="Shape 50"/>
          <p:cNvSpPr/>
          <p:nvPr/>
        </p:nvSpPr>
        <p:spPr>
          <a:xfrm>
            <a:off x="8732520" y="4572000"/>
            <a:ext cx="0" cy="658368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1"/>
          <p:cNvSpPr/>
          <p:nvPr/>
        </p:nvSpPr>
        <p:spPr>
          <a:xfrm>
            <a:off x="658368" y="5760720"/>
            <a:ext cx="10863072" cy="502920"/>
          </a:xfrm>
          <a:prstGeom prst="roundRect">
            <a:avLst>
              <a:gd name="adj" fmla="val 9091"/>
            </a:avLst>
          </a:prstGeom>
          <a:solidFill>
            <a:srgbClr val="F6F0E2"/>
          </a:solidFill>
          <a:ln w="12700">
            <a:solidFill>
              <a:srgbClr val="F6F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868680" y="58521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7B5B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AOV values can all be valid when the denominator, calculation grain or filter context changes. The measure name and definition should always be clearly stated.</a:t>
            </a:r>
            <a:endParaRPr lang="en-US" sz="11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2615</TotalTime>
  <Words>1352</Words>
  <Application>Microsoft Macintosh PowerPoint</Application>
  <PresentationFormat>Widescreen</PresentationFormat>
  <Paragraphs>208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-webkit-standard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Fanshawe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Canada Vapes Sales Growth, AOV and Customer Targeting Strategy</dc:title>
  <dc:subject>Canada Vapes Final Presentation</dc:subject>
  <dc:creator>MGMT 6219 Team 5</dc:creator>
  <cp:lastModifiedBy>Adebayo, Busayo</cp:lastModifiedBy>
  <cp:revision>5</cp:revision>
  <dcterms:created xsi:type="dcterms:W3CDTF">2026-08-09T17:20:39Z</dcterms:created>
  <dcterms:modified xsi:type="dcterms:W3CDTF">2026-08-11T13:01:13Z</dcterms:modified>
</cp:coreProperties>
</file>